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59" r:id="rId7"/>
    <p:sldId id="261" r:id="rId8"/>
    <p:sldId id="263" r:id="rId9"/>
    <p:sldId id="264" r:id="rId10"/>
    <p:sldId id="262" r:id="rId11"/>
    <p:sldId id="260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5A3F7-601C-4F01-9129-10BABE546E1C}" v="2" dt="2026-03-29T20:16:39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hugo" userId="2cabc536c2579797" providerId="LiveId" clId="{F13C111D-959C-4FBA-9B7F-A6739CBF8145}"/>
    <pc:docChg chg="custSel modSld">
      <pc:chgData name="vitor hugo" userId="2cabc536c2579797" providerId="LiveId" clId="{F13C111D-959C-4FBA-9B7F-A6739CBF8145}" dt="2026-03-29T20:17:22.167" v="105" actId="1076"/>
      <pc:docMkLst>
        <pc:docMk/>
      </pc:docMkLst>
      <pc:sldChg chg="addSp modSp mod">
        <pc:chgData name="vitor hugo" userId="2cabc536c2579797" providerId="LiveId" clId="{F13C111D-959C-4FBA-9B7F-A6739CBF8145}" dt="2026-03-29T20:17:22.167" v="105" actId="1076"/>
        <pc:sldMkLst>
          <pc:docMk/>
          <pc:sldMk cId="2673849116" sldId="260"/>
        </pc:sldMkLst>
        <pc:spChg chg="mod">
          <ac:chgData name="vitor hugo" userId="2cabc536c2579797" providerId="LiveId" clId="{F13C111D-959C-4FBA-9B7F-A6739CBF8145}" dt="2026-03-29T20:15:19.851" v="8" actId="20577"/>
          <ac:spMkLst>
            <pc:docMk/>
            <pc:sldMk cId="2673849116" sldId="260"/>
            <ac:spMk id="2" creationId="{51F70220-677A-411B-B416-94321A555329}"/>
          </ac:spMkLst>
        </pc:spChg>
        <pc:spChg chg="mod">
          <ac:chgData name="vitor hugo" userId="2cabc536c2579797" providerId="LiveId" clId="{F13C111D-959C-4FBA-9B7F-A6739CBF8145}" dt="2026-03-29T20:15:58.816" v="14" actId="27636"/>
          <ac:spMkLst>
            <pc:docMk/>
            <pc:sldMk cId="2673849116" sldId="260"/>
            <ac:spMk id="3" creationId="{667D1328-A694-4327-A93A-3D919FD65B27}"/>
          </ac:spMkLst>
        </pc:spChg>
        <pc:spChg chg="add mod">
          <ac:chgData name="vitor hugo" userId="2cabc536c2579797" providerId="LiveId" clId="{F13C111D-959C-4FBA-9B7F-A6739CBF8145}" dt="2026-03-29T20:17:22.167" v="105" actId="1076"/>
          <ac:spMkLst>
            <pc:docMk/>
            <pc:sldMk cId="2673849116" sldId="260"/>
            <ac:spMk id="5" creationId="{1FE48D4F-AD3A-CACE-5CD8-695103339D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3B479-B86F-4B3B-92CC-A65D21022A71}" type="datetime1">
              <a:rPr lang="pt-BR" smtClean="0"/>
              <a:t>29/03/2026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53290-F0ED-46B1-B74B-2F3871D103E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1477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89ABE-C638-43EB-8FF2-1C40E4E3A55D}" type="datetime1">
              <a:rPr lang="pt-BR" smtClean="0"/>
              <a:pPr/>
              <a:t>29/03/2026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 dirty="0"/>
              <a:t>Editar estilos de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69BF2-40CB-4D1C-9AF8-B52A60A65A5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8454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965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84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3172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96D4-A74C-871E-3599-EFB0D902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A0A437-B092-F474-5734-18E60E2A1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37B721-7E23-8495-E6F1-F513EC7BE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47ED8C-958B-2B41-1754-14ABF4622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0404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C07D-BE8C-64BC-B6DB-317CB6C6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0B80D1-120E-F501-28D1-C04D2BF35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D196D7-1BFB-AF8B-6283-FFD74A280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F66D1D-D410-E245-0585-C01D7192C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708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471F-B9BE-5DFF-5311-2A0A9857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717921-544B-9DE8-BA71-B97F34900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848833E-44FC-9FC9-F9DF-A2C759C16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A25F32-BAB8-A79D-2C01-0A19ADD51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657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3417-E4BE-9094-65C4-F3D0BD75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6E0502-5EF2-3678-A805-073080B6C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79EE75-1F4D-37B7-7460-A6AFA0AFA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3B10BF-510A-A170-CDF9-A189A5686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5660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389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A70E9B-807F-4AE6-92CC-96282D5E7311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C79FE1-4EE1-4F09-AF1C-ADB867A4DDB7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rtlCol="0"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32E7D4-C3C8-491E-AF18-B3F00DDC0614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6D9EE8-2544-4943-81D3-517B336FA10A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952E2D-6498-45E7-A8E3-132689DDCE1E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0953FF-B44C-4032-BE08-263E004F48D0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1CED91-10F8-4F28-862B-FD4E3A97170A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 rtlCol="0"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9" name="Espaço Reservado para Data 8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CFC77E-2AA3-4152-A54C-74981BE28E55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rtlCol="0" anchor="t" anchorCtr="1">
            <a:normAutofit/>
          </a:bodyPr>
          <a:lstStyle>
            <a:lvl1pPr marL="0" indent="0" algn="ctr" rtl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8EC681D4-C3A8-4CE6-91AF-0785B228C7CF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190B64-7C24-4AC5-981A-18293759B464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B21156-01AE-471C-8785-A0104C41415F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CB6EA007-E4DD-442B-86B0-09BBF9FC84DB}" type="datetime1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981E6A2-4656-4CFE-9BF4-39D81EE2C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594153"/>
            <a:ext cx="4486656" cy="1231106"/>
          </a:xfrm>
          <a:noFill/>
          <a:ln>
            <a:solidFill>
              <a:schemeClr val="tx1"/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 rtlCol="0">
            <a:normAutofit fontScale="90000"/>
          </a:bodyPr>
          <a:lstStyle/>
          <a:p>
            <a:pPr rtl="0"/>
            <a:r>
              <a:rPr lang="pt-BR" sz="3000" dirty="0">
                <a:solidFill>
                  <a:schemeClr val="tx1"/>
                </a:solidFill>
              </a:rPr>
              <a:t>Ado 1</a:t>
            </a:r>
            <a:br>
              <a:rPr lang="pt-BR" sz="3000" dirty="0">
                <a:solidFill>
                  <a:schemeClr val="tx1"/>
                </a:solidFill>
              </a:rPr>
            </a:br>
            <a:r>
              <a:rPr lang="pt-BR" sz="3000" dirty="0">
                <a:solidFill>
                  <a:schemeClr val="tx1"/>
                </a:solidFill>
              </a:rPr>
              <a:t>Fundamentos de banco de dados</a:t>
            </a:r>
          </a:p>
        </p:txBody>
      </p:sp>
      <p:pic>
        <p:nvPicPr>
          <p:cNvPr id="5" name="Imagem 4" descr="Números de negociações financeiras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1535526-BDD0-A39A-B3B1-184713864598}"/>
              </a:ext>
            </a:extLst>
          </p:cNvPr>
          <p:cNvSpPr txBox="1"/>
          <p:nvPr/>
        </p:nvSpPr>
        <p:spPr>
          <a:xfrm>
            <a:off x="1484722" y="4110087"/>
            <a:ext cx="312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VITOR HUGO DE JESUS SILVA</a:t>
            </a:r>
          </a:p>
        </p:txBody>
      </p: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963" y="2681103"/>
            <a:ext cx="3894565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 fontScale="90000"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MODELO ENTIDADE-RELACIONAMENTO (ER)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5780F072-8258-0DAE-CE74-37D2A86D8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472" y="1624806"/>
            <a:ext cx="6615378" cy="360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5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Estrutura do </a:t>
            </a:r>
            <a:r>
              <a:rPr lang="pt-BR" dirty="0" err="1">
                <a:solidFill>
                  <a:srgbClr val="FFFFFF"/>
                </a:solidFill>
              </a:rPr>
              <a:t>eMPRESADB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952A61-2C61-E65F-3D9E-6803BE96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454" y="1638803"/>
            <a:ext cx="4821386" cy="3743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O banco é composto por duas tabelas principais para evitar redundância.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tabela </a:t>
            </a:r>
            <a:r>
              <a:rPr lang="pt-BR" b="1" dirty="0"/>
              <a:t>Departamentos</a:t>
            </a:r>
            <a:r>
              <a:rPr lang="pt-BR" dirty="0"/>
              <a:t> centraliza os setores da empresa.</a:t>
            </a:r>
          </a:p>
          <a:p>
            <a:endParaRPr lang="pt-BR" dirty="0"/>
          </a:p>
          <a:p>
            <a:r>
              <a:rPr lang="pt-BR" dirty="0"/>
              <a:t>A tabela </a:t>
            </a:r>
            <a:r>
              <a:rPr lang="pt-BR" b="1" dirty="0" err="1"/>
              <a:t>Funcionarios</a:t>
            </a:r>
            <a:r>
              <a:rPr lang="pt-BR" dirty="0"/>
              <a:t> armazena os dados individuais e utiliza uma </a:t>
            </a:r>
            <a:r>
              <a:rPr lang="pt-BR" b="1" dirty="0"/>
              <a:t>Chave Estrangeira (FK)</a:t>
            </a:r>
            <a:r>
              <a:rPr lang="pt-BR" dirty="0"/>
              <a:t> para se conectar a um departamento, garantindo a integridade referencial.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1F8B7-0192-C00D-E7EE-AE4D51CC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F2361-C3CA-F6A1-F774-B4071B767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375" y="217476"/>
            <a:ext cx="6924472" cy="862295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r>
              <a:rPr lang="pt-BR" sz="2800" dirty="0">
                <a:solidFill>
                  <a:srgbClr val="FFFFFF"/>
                </a:solidFill>
              </a:rPr>
              <a:t>RESULTADOS DE CONSULTAS SQL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B063980-EA02-0558-21B3-884533809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44" y="2206827"/>
            <a:ext cx="4820441" cy="332382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63453A4-1D44-25FC-09B9-F25F796A6ABE}"/>
              </a:ext>
            </a:extLst>
          </p:cNvPr>
          <p:cNvSpPr txBox="1"/>
          <p:nvPr/>
        </p:nvSpPr>
        <p:spPr>
          <a:xfrm>
            <a:off x="1575882" y="1468877"/>
            <a:ext cx="2590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a) Todos os funcionários</a:t>
            </a:r>
          </a:p>
          <a:p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1931C0B-A6D9-69D4-0CD3-0623CE3D3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524" y="2206827"/>
            <a:ext cx="6399952" cy="332382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B3B09A-661A-D652-7800-390D536CECA4}"/>
              </a:ext>
            </a:extLst>
          </p:cNvPr>
          <p:cNvSpPr txBox="1"/>
          <p:nvPr/>
        </p:nvSpPr>
        <p:spPr>
          <a:xfrm>
            <a:off x="7308007" y="1468876"/>
            <a:ext cx="4060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b) Apenas funcionários de TI (ID 1)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172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91E1B-FE90-4E33-8711-40BFE5AA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919B9-2EB1-E80C-11F7-88E865DC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375" y="217476"/>
            <a:ext cx="6924472" cy="862295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r>
              <a:rPr lang="pt-BR" sz="2800" dirty="0">
                <a:solidFill>
                  <a:srgbClr val="FFFFFF"/>
                </a:solidFill>
              </a:rPr>
              <a:t>RESULTADOS DE CONSULTAS SQL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0B301C-0482-A6E3-7205-B78520C28E01}"/>
              </a:ext>
            </a:extLst>
          </p:cNvPr>
          <p:cNvSpPr txBox="1"/>
          <p:nvPr/>
        </p:nvSpPr>
        <p:spPr>
          <a:xfrm>
            <a:off x="1575881" y="1468877"/>
            <a:ext cx="3382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c) Salário superior a R$ 5000,00</a:t>
            </a:r>
          </a:p>
          <a:p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6A8547-47B3-B2D9-B7A8-091DD9E8DA78}"/>
              </a:ext>
            </a:extLst>
          </p:cNvPr>
          <p:cNvSpPr txBox="1"/>
          <p:nvPr/>
        </p:nvSpPr>
        <p:spPr>
          <a:xfrm>
            <a:off x="7308007" y="1468876"/>
            <a:ext cx="4060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d) Nome do funcionário e nome do departamento (JOIN)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867EE0-F84C-4BF3-29EC-8ADF9D61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57" y="2392205"/>
            <a:ext cx="5470949" cy="284187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740E506-246D-6DBD-9575-D1D9E5424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808" y="2392206"/>
            <a:ext cx="5683743" cy="28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D1041-4158-9F9E-F8BE-D9353C48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F1574-6952-A851-0471-B88FC20BE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375" y="217476"/>
            <a:ext cx="6924472" cy="862295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r>
              <a:rPr lang="pt-BR" sz="2800" dirty="0">
                <a:solidFill>
                  <a:srgbClr val="FFFFFF"/>
                </a:solidFill>
              </a:rPr>
              <a:t>RESULTADOS DE CONSULTAS SQL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FD5320-E2F0-88B1-67B6-6B47CAFA25DB}"/>
              </a:ext>
            </a:extLst>
          </p:cNvPr>
          <p:cNvSpPr txBox="1"/>
          <p:nvPr/>
        </p:nvSpPr>
        <p:spPr>
          <a:xfrm>
            <a:off x="1575881" y="1468877"/>
            <a:ext cx="3674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a) Atualizar salário de um funcionário (</a:t>
            </a:r>
            <a:r>
              <a:rPr lang="pt-BR" dirty="0" err="1"/>
              <a:t>Ex</a:t>
            </a:r>
            <a:r>
              <a:rPr lang="pt-BR" dirty="0"/>
              <a:t>: Ana Silva ID 1)</a:t>
            </a:r>
          </a:p>
          <a:p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7AFAD5-23C4-27B4-58A9-A13459786976}"/>
              </a:ext>
            </a:extLst>
          </p:cNvPr>
          <p:cNvSpPr txBox="1"/>
          <p:nvPr/>
        </p:nvSpPr>
        <p:spPr>
          <a:xfrm>
            <a:off x="7308007" y="1468876"/>
            <a:ext cx="4060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b) Deletar um funcionário (</a:t>
            </a:r>
            <a:r>
              <a:rPr lang="pt-BR" dirty="0" err="1"/>
              <a:t>Ex</a:t>
            </a:r>
            <a:r>
              <a:rPr lang="pt-BR" dirty="0"/>
              <a:t>: Fabio Jr ID 6)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80EAFA-7E4E-82D1-5250-0CB41A29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13" y="2292512"/>
            <a:ext cx="4239217" cy="11812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24BE328-E9A7-6184-4D7C-35246DB40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890" y="2292511"/>
            <a:ext cx="3523070" cy="11812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A02444-9803-C95A-EE74-4412125DF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421" y="3768621"/>
            <a:ext cx="8011643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5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DF3B4-FA04-4660-FED0-66FCFAC9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37B61B21-79B2-F23E-1662-035BB55CB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3011F76-6BA7-34C9-A02E-0A07E3D4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E489FF-3E6D-89D6-8D63-24A5F76B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ANÁLISE DOS DADOS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74DB66-2643-912B-6375-2959CE03E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7740" y="1997838"/>
            <a:ext cx="47972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1: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"O departamento de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o mais populoso, contando com 3 colaboradores.“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2: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"A média salarial dos funcionários de TI e Gerência supera a marca de R$ 5.000,00, enquanto Marketing e Vendas possuem entradas mais voltadas ao operacional."</a:t>
            </a:r>
          </a:p>
        </p:txBody>
      </p:sp>
    </p:spTree>
    <p:extLst>
      <p:ext uri="{BB962C8B-B14F-4D97-AF65-F5344CB8AC3E}">
        <p14:creationId xmlns:p14="http://schemas.microsoft.com/office/powerpoint/2010/main" val="2915407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5" y="978776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cONCLUSÃO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 descr="Mão com caneta apontando números financeiro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7D1328-A694-4327-A93A-3D919FD6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264" y="2638045"/>
            <a:ext cx="4451773" cy="135892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O uso de SQL permite uma gestão eficiente de dados corporativos, facilitando desde a simples listagem até análises complexas de custos salariais por departamento.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E48D4F-AD3A-CACE-5CD8-695103339DA5}"/>
              </a:ext>
            </a:extLst>
          </p:cNvPr>
          <p:cNvSpPr txBox="1"/>
          <p:nvPr/>
        </p:nvSpPr>
        <p:spPr>
          <a:xfrm>
            <a:off x="6182264" y="4563374"/>
            <a:ext cx="3424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VITOR HUGO DE JESUS SILVA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Vitor.hjsilva1@senacsp.edu.br</a:t>
            </a:r>
          </a:p>
        </p:txBody>
      </p:sp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2736BCB-6CE4-414B-B2BE-1DA087E52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17AD15-0DEB-4851-82A2-261C041346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0ED59B-F67D-4B99-A0A7-E5237FF5810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financeiro</Template>
  <TotalTime>30</TotalTime>
  <Words>247</Words>
  <Application>Microsoft Office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Pacote</vt:lpstr>
      <vt:lpstr>Ado 1 Fundamentos de banco de dados</vt:lpstr>
      <vt:lpstr>MODELO ENTIDADE-RELACIONAMENTO (ER)</vt:lpstr>
      <vt:lpstr>Estrutura do eMPRESADB</vt:lpstr>
      <vt:lpstr>RESULTADOS DE CONSULTAS SQL</vt:lpstr>
      <vt:lpstr>RESULTADOS DE CONSULTAS SQL</vt:lpstr>
      <vt:lpstr>RESULTADOS DE CONSULTAS SQL</vt:lpstr>
      <vt:lpstr>ANÁLISE DOS DADOS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HUGO DE JESUS SILVA</dc:creator>
  <cp:lastModifiedBy>vitor hugo</cp:lastModifiedBy>
  <cp:revision>1</cp:revision>
  <dcterms:created xsi:type="dcterms:W3CDTF">2026-03-29T19:46:47Z</dcterms:created>
  <dcterms:modified xsi:type="dcterms:W3CDTF">2026-03-29T20:17:24Z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