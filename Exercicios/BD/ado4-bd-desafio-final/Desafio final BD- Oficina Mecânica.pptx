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JetBrains Mono" panose="020B0604020202020204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Medium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86159E-A0A0-4169-AA2C-A8B5A5B34083}">
  <a:tblStyle styleId="{2686159E-A0A0-4169-AA2C-A8B5A5B340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33FBBE20-0A89-2FA4-DDAE-D18BF48B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7752B32B-AF0F-32CF-5F6C-019D649DF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68C9E534-638D-653C-3F3D-16007F871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492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0A82261-8BC7-ACB7-7C59-B551DEC9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31739080-FC20-7C5E-26D0-1D0DE04F4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D9D1663F-52D8-CC5D-CCA9-1C3920FE1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32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awpixel.com/search/car%20repair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30429" y="2445097"/>
            <a:ext cx="9131141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Gestão de </a:t>
            </a:r>
            <a:r>
              <a:rPr lang="en-US" sz="5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Oficina</a:t>
            </a: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Mecânica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47837" y="3389858"/>
            <a:ext cx="86963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Análise, Modelagem e Implementação de Banco de Dados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47837" y="4231778"/>
            <a:ext cx="86963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Desafio</a:t>
            </a:r>
            <a:r>
              <a:rPr lang="en-US" sz="12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Final  BD | Sistemas para Internet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381625" y="2943225"/>
            <a:ext cx="142875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19350" y="3286125"/>
            <a:ext cx="772096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Introdução ao Projeto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-758874"/>
            <a:ext cx="5286375" cy="9688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45307" y="158351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noProof="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lang="en-US" sz="2100" b="1" i="0" u="none" strike="noStrike" cap="none" noProof="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Problema</a:t>
            </a:r>
            <a:endParaRPr lang="en-US" noProof="0"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45307" y="1985126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Oficinas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mecânicas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lidam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fluxos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complexos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múltiplos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veículos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cliente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diversos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serviços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em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uma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única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Ordem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Serviço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(OS) e necessidade de histórico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preciso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noProof="0"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545307" y="3278963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noProof="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Objetivos</a:t>
            </a:r>
            <a:endParaRPr lang="en-US" noProof="0" dirty="0">
              <a:solidFill>
                <a:srgbClr val="DEFF9A"/>
              </a:solidFill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5">
            <a:alphaModFix/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6343649" y="1520487"/>
            <a:ext cx="5267325" cy="35169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26307" y="3755213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Font typeface="Arial" panose="020B0604020202020204" pitchFamily="34" charset="0"/>
              <a:buChar char="•"/>
            </a:pP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Garantir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integridade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entre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Cliente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Veículo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noProof="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926307" y="4060013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CFF99"/>
              </a:buClr>
              <a:buFont typeface="Arial" panose="020B0604020202020204" pitchFamily="34" charset="0"/>
              <a:buChar char="•"/>
            </a:pP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Automatizar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cálculo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orçamentos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noProof="0"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926307" y="4364813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Font typeface="Arial" panose="020B0604020202020204" pitchFamily="34" charset="0"/>
              <a:buChar char="•"/>
            </a:pP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Extrair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insights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sobre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serviços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rentáveis</a:t>
            </a:r>
            <a:r>
              <a:rPr lang="en-US" sz="15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noProof="0"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763190" y="375402"/>
            <a:ext cx="51149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noProof="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Escopo</a:t>
            </a:r>
            <a:r>
              <a:rPr lang="en-US" sz="3600" b="1" i="0" u="none" strike="noStrike" cap="none" noProof="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3600" b="1" i="0" u="none" strike="noStrike" cap="none" noProof="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Motivação</a:t>
            </a:r>
            <a:endParaRPr lang="en-US" noProof="0" dirty="0"/>
          </a:p>
        </p:txBody>
      </p:sp>
      <p:sp>
        <p:nvSpPr>
          <p:cNvPr id="112" name="Google Shape;112;p15"/>
          <p:cNvSpPr/>
          <p:nvPr/>
        </p:nvSpPr>
        <p:spPr>
          <a:xfrm>
            <a:off x="542925" y="37540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5381625" y="2943225"/>
            <a:ext cx="142875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309812" y="3286125"/>
            <a:ext cx="79509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Modelagem de Dados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4119"/>
            <a:ext cx="538162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04119"/>
            <a:ext cx="538162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567124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Implementado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via SQLite com Chaves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Estrangeiras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ativas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28" name="Google Shape;12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0" y="229939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2067163" y="3137594"/>
            <a:ext cx="239029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Modelo Conceitual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66775" y="3794819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Focado em Entidades: Cliente, Veículo, OS e Serviço. Relação N:N resolvida com Tabela Intermediária (Itens_OS).</a:t>
            </a:r>
            <a:endParaRPr/>
          </a:p>
        </p:txBody>
      </p:sp>
      <p:pic>
        <p:nvPicPr>
          <p:cNvPr id="131" name="Google Shape;13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39187" y="229939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759541" y="3137594"/>
            <a:ext cx="23402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Modelo Relacional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534150" y="3794819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Conversão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5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tabelas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normalizadas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(3FN),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garantindo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dados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não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sejam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duplicados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evitando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anomalias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exclusão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Estrutura do Modelo ER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3E109ADB-2435-4820-D984-6A67090B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>
            <a:extLst>
              <a:ext uri="{FF2B5EF4-FFF2-40B4-BE49-F238E27FC236}">
                <a16:creationId xmlns:a16="http://schemas.microsoft.com/office/drawing/2014/main" id="{3677981E-EDC9-01FE-A89F-3BEF349D27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>
            <a:extLst>
              <a:ext uri="{FF2B5EF4-FFF2-40B4-BE49-F238E27FC236}">
                <a16:creationId xmlns:a16="http://schemas.microsoft.com/office/drawing/2014/main" id="{4B3A2269-67D5-BBB3-8450-82B893000F94}"/>
              </a:ext>
            </a:extLst>
          </p:cNvPr>
          <p:cNvSpPr txBox="1"/>
          <p:nvPr/>
        </p:nvSpPr>
        <p:spPr>
          <a:xfrm>
            <a:off x="790576" y="274587"/>
            <a:ext cx="51054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Estrutura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do Modelo ER</a:t>
            </a:r>
            <a:endParaRPr dirty="0"/>
          </a:p>
        </p:txBody>
      </p:sp>
      <p:sp>
        <p:nvSpPr>
          <p:cNvPr id="135" name="Google Shape;135;p17">
            <a:extLst>
              <a:ext uri="{FF2B5EF4-FFF2-40B4-BE49-F238E27FC236}">
                <a16:creationId xmlns:a16="http://schemas.microsoft.com/office/drawing/2014/main" id="{4EE4B6E2-1C30-162C-19C7-61C3057BA0F9}"/>
              </a:ext>
            </a:extLst>
          </p:cNvPr>
          <p:cNvSpPr/>
          <p:nvPr/>
        </p:nvSpPr>
        <p:spPr>
          <a:xfrm>
            <a:off x="542925" y="274587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B45682-14A3-E4AE-3107-C7AAF4820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6" y="1757146"/>
            <a:ext cx="9078592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9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8"/>
          <p:cNvGraphicFramePr/>
          <p:nvPr>
            <p:extLst>
              <p:ext uri="{D42A27DB-BD31-4B8C-83A1-F6EECF244321}">
                <p14:modId xmlns:p14="http://schemas.microsoft.com/office/powerpoint/2010/main" val="547232467"/>
              </p:ext>
            </p:extLst>
          </p:nvPr>
        </p:nvGraphicFramePr>
        <p:xfrm>
          <a:off x="571500" y="2861369"/>
          <a:ext cx="11049000" cy="2447875"/>
        </p:xfrm>
        <a:graphic>
          <a:graphicData uri="http://schemas.openxmlformats.org/drawingml/2006/table">
            <a:tbl>
              <a:tblPr firstRow="1" bandRow="1">
                <a:noFill/>
                <a:tableStyleId>{2686159E-A0A0-4169-AA2C-A8B5A5B34083}</a:tableStyleId>
              </a:tblPr>
              <a:tblGrid>
                <a:gridCol w="202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Restrição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Aplicação no Projeto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Objetivo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KEY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 (Clientes/Serviços) e Placa (Veículos)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Identificação única e absoluta.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FOREIGN KEY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Vínculo OS -&gt; Veículo -&gt; Cliente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Manter o histórico vinculado ao dono correto.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CHECK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Ano do Veículo e Status da OS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Evitar dados impossíveis (ex: Ano 2050).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 NULL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Nome, CPF e Preço Base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Garantir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campos </a:t>
                      </a:r>
                      <a:r>
                        <a:rPr lang="en-US" sz="12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vitais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nunca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fiquem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vazios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2" name="Google Shape;142;p18"/>
          <p:cNvSpPr/>
          <p:nvPr/>
        </p:nvSpPr>
        <p:spPr>
          <a:xfrm>
            <a:off x="571500" y="3809107"/>
            <a:ext cx="202331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594818" y="3809107"/>
            <a:ext cx="40734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668244" y="3809107"/>
            <a:ext cx="49522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71500" y="4304407"/>
            <a:ext cx="202331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2594818" y="4304407"/>
            <a:ext cx="40734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6668244" y="4304407"/>
            <a:ext cx="49522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71500" y="4799707"/>
            <a:ext cx="202331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2594818" y="4799707"/>
            <a:ext cx="40734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668244" y="4799707"/>
            <a:ext cx="49522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5295007"/>
            <a:ext cx="202331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2594818" y="5295007"/>
            <a:ext cx="40734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668244" y="5295007"/>
            <a:ext cx="49522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Regras de Integridade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5381625" y="2943225"/>
            <a:ext cx="142875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2609850" y="3286125"/>
            <a:ext cx="73209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Consultas e Análises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65774FCD-807A-877F-F6FD-718696B7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>
            <a:extLst>
              <a:ext uri="{FF2B5EF4-FFF2-40B4-BE49-F238E27FC236}">
                <a16:creationId xmlns:a16="http://schemas.microsoft.com/office/drawing/2014/main" id="{04B2ABEA-1964-4F79-DE0D-086B74AC3F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7590"/>
            <a:ext cx="12192000" cy="69255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>
            <a:extLst>
              <a:ext uri="{FF2B5EF4-FFF2-40B4-BE49-F238E27FC236}">
                <a16:creationId xmlns:a16="http://schemas.microsoft.com/office/drawing/2014/main" id="{0825D3A6-74B9-5190-A093-19E13C2B97B6}"/>
              </a:ext>
            </a:extLst>
          </p:cNvPr>
          <p:cNvSpPr txBox="1"/>
          <p:nvPr/>
        </p:nvSpPr>
        <p:spPr>
          <a:xfrm>
            <a:off x="762000" y="347358"/>
            <a:ext cx="887577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Consulta 1 – INNER JOIN e ORDER BY </a:t>
            </a:r>
            <a:endParaRPr dirty="0"/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632CF993-3D98-6F3F-0CA1-0872465C60EF}"/>
              </a:ext>
            </a:extLst>
          </p:cNvPr>
          <p:cNvSpPr/>
          <p:nvPr/>
        </p:nvSpPr>
        <p:spPr>
          <a:xfrm>
            <a:off x="571500" y="347358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8DB905-CE1E-721D-AB00-94E22016B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33" y="2215840"/>
            <a:ext cx="11698333" cy="3820058"/>
          </a:xfrm>
          <a:prstGeom prst="rect">
            <a:avLst/>
          </a:prstGeom>
        </p:spPr>
      </p:pic>
      <p:sp>
        <p:nvSpPr>
          <p:cNvPr id="4" name="Google Shape;180;p21">
            <a:extLst>
              <a:ext uri="{FF2B5EF4-FFF2-40B4-BE49-F238E27FC236}">
                <a16:creationId xmlns:a16="http://schemas.microsoft.com/office/drawing/2014/main" id="{9AB8F058-8350-7683-1534-253B02430997}"/>
              </a:ext>
            </a:extLst>
          </p:cNvPr>
          <p:cNvSpPr txBox="1"/>
          <p:nvPr/>
        </p:nvSpPr>
        <p:spPr>
          <a:xfrm>
            <a:off x="571500" y="1076240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que ela faz: Cria uma lista telefónica/cadastro alfabético dos clientes junto com os carros que eles possuem.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796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4312"/>
            <a:ext cx="11049000" cy="440218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71500" y="469493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Análise baseada em COUNT e GROUP BY na tabela de Itens de OS.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Serviços mais Demandados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8207"/>
            <a:ext cx="5286375" cy="3994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9357"/>
            <a:ext cx="5286375" cy="55884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571500" y="235490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Atributo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Derivado</a:t>
            </a:r>
            <a:endParaRPr dirty="0"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286925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valor total da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Ordem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Serviço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não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é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armazenado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mas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calculado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em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tempo real:</a:t>
            </a:r>
            <a:endParaRPr dirty="0"/>
          </a:p>
        </p:txBody>
      </p:sp>
      <p:pic>
        <p:nvPicPr>
          <p:cNvPr id="181" name="Google Shape;18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97732"/>
            <a:ext cx="5267325" cy="397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859857"/>
            <a:ext cx="49053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Cálculo de Faturamento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571500" y="478541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Resultados obtidos através de JOINs complexos entre as tabelas de Clientes e Itens de OS com filtros de data.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114425" y="2889944"/>
            <a:ext cx="320992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R$ 4.2k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1114425" y="3937694"/>
            <a:ext cx="32099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Faturamento Mensal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410200" y="2889944"/>
            <a:ext cx="21145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32%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410200" y="3937694"/>
            <a:ext cx="21145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Retenção de Clientes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8505825" y="2889126"/>
            <a:ext cx="281940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15min</a:t>
            </a:r>
            <a:endParaRPr dirty="0"/>
          </a:p>
        </p:txBody>
      </p:sp>
      <p:sp>
        <p:nvSpPr>
          <p:cNvPr id="196" name="Google Shape;196;p22"/>
          <p:cNvSpPr txBox="1"/>
          <p:nvPr/>
        </p:nvSpPr>
        <p:spPr>
          <a:xfrm>
            <a:off x="8610600" y="3937694"/>
            <a:ext cx="2466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Tempo Médio Resposta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Insights Estratégicos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2152650" y="332333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2190750" y="332333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Eficiência: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modelagem reduziu a redundância de dados em 40%.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2152650" y="362813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2190750" y="362813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Integridade: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Chaves estrangeiras garantiram 0% de dados órfãos.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2152650" y="393293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2190750" y="393293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Futuro: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Sugere-se a implementação de Triggers para atualização automática de estoque de peças ao finalizar uma OS.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2152650" y="454253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2190750" y="4542532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Escalabilidade: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sistema está pronto para migração de SQLite para PostgreSQL se necessário.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Conclusões e Melhorias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8640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4590811" y="2911822"/>
            <a:ext cx="3010376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4662487" y="3856583"/>
            <a:ext cx="28670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Obrigado pela atenção!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4662487" y="4793753"/>
            <a:ext cx="2867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GITHUB: /</a:t>
            </a:r>
            <a:r>
              <a:rPr lang="en-US" sz="1200" b="0" i="0" u="none" strike="noStrike" cap="none" dirty="0" err="1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seu-usuario-projeto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404</Words>
  <Application>Microsoft Office PowerPoint</Application>
  <PresentationFormat>Widescreen</PresentationFormat>
  <Paragraphs>63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Urbanist Medium</vt:lpstr>
      <vt:lpstr>Calibri</vt:lpstr>
      <vt:lpstr>Arial</vt:lpstr>
      <vt:lpstr>Urbanist</vt:lpstr>
      <vt:lpstr>JetBrains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vitor hugo</cp:lastModifiedBy>
  <cp:revision>2</cp:revision>
  <dcterms:modified xsi:type="dcterms:W3CDTF">2026-05-16T14:47:23Z</dcterms:modified>
</cp:coreProperties>
</file>